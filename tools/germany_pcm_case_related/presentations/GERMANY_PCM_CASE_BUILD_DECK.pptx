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267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600" b="1">
                <a:solidFill>
                  <a:srgbClr val="122A4C"/>
                </a:solidFill>
              </a:rPr>
              <a:t>Operating cost by zone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cost ($M)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2F5DA9"/>
              </a:solidFill>
            </c:spPr>
            <c:extLst>
              <c:ext xmlns:c16="http://schemas.microsoft.com/office/drawing/2014/chart" uri="{C3380CC4-5D6E-409C-BE32-E72D297353CC}">
                <c16:uniqueId val="{00000001-9432-427E-80DA-1459721EA97F}"/>
              </c:ext>
            </c:extLst>
          </c:dPt>
          <c:dPt>
            <c:idx val="1"/>
            <c:invertIfNegative val="1"/>
            <c:bubble3D val="0"/>
            <c:spPr>
              <a:solidFill>
                <a:srgbClr val="E16B4A"/>
              </a:solidFill>
            </c:spPr>
            <c:extLst>
              <c:ext xmlns:c16="http://schemas.microsoft.com/office/drawing/2014/chart" uri="{C3380CC4-5D6E-409C-BE32-E72D297353CC}">
                <c16:uniqueId val="{00000003-9432-427E-80DA-1459721EA97F}"/>
              </c:ext>
            </c:extLst>
          </c:dPt>
          <c:dPt>
            <c:idx val="2"/>
            <c:invertIfNegative val="1"/>
            <c:bubble3D val="0"/>
            <c:spPr>
              <a:solidFill>
                <a:srgbClr val="368F84"/>
              </a:solidFill>
            </c:spPr>
            <c:extLst>
              <c:ext xmlns:c16="http://schemas.microsoft.com/office/drawing/2014/chart" uri="{C3380CC4-5D6E-409C-BE32-E72D297353CC}">
                <c16:uniqueId val="{00000005-9432-427E-80DA-1459721EA97F}"/>
              </c:ext>
            </c:extLst>
          </c:dPt>
          <c:dPt>
            <c:idx val="3"/>
            <c:invertIfNegative val="1"/>
            <c:bubble3D val="0"/>
            <c:spPr>
              <a:solidFill>
                <a:srgbClr val="9160C0"/>
              </a:solidFill>
            </c:spPr>
            <c:extLst>
              <c:ext xmlns:c16="http://schemas.microsoft.com/office/drawing/2014/chart" uri="{C3380CC4-5D6E-409C-BE32-E72D297353CC}">
                <c16:uniqueId val="{00000007-9432-427E-80DA-1459721EA97F}"/>
              </c:ext>
            </c:extLst>
          </c:dPt>
          <c:cat>
            <c:strRef>
              <c:f>Sheet1!$A$2:$A$5</c:f>
              <c:strCache>
                <c:ptCount val="4"/>
                <c:pt idx="0">
                  <c:v>50Hertz</c:v>
                </c:pt>
                <c:pt idx="1">
                  <c:v>Amprion</c:v>
                </c:pt>
                <c:pt idx="2">
                  <c:v>TenneT</c:v>
                </c:pt>
                <c:pt idx="3">
                  <c:v>TransnetBW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2.5974958020283747</c:v>
                </c:pt>
                <c:pt idx="1">
                  <c:v>1.8389621378662449</c:v>
                </c:pt>
                <c:pt idx="2">
                  <c:v>3.7840254948504719</c:v>
                </c:pt>
                <c:pt idx="3">
                  <c:v>1.7763716028062473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432-427E-80DA-1459721EA9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22A4C"/>
          </a:solidFill>
          <a:ln>
            <a:solidFill>
              <a:srgbClr val="122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Germany PCM Case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32688"/>
            <a:ext cx="6766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EE7F2"/>
                </a:solidFill>
              </a:rPr>
              <a:t>From raw public data to consistent nodal and zonal HOPE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783080"/>
            <a:ext cx="4754880" cy="1051560"/>
          </a:xfrm>
          <a:prstGeom prst="roundRect">
            <a:avLst/>
          </a:prstGeom>
          <a:solidFill>
            <a:srgbClr val="ECF2FA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F5DA9"/>
                </a:solidFill>
              </a:rPr>
              <a:t>Core design rule</a:t>
            </a:r>
          </a:p>
          <a:p>
            <a:r>
              <a:rPr sz="2000" b="1">
                <a:solidFill>
                  <a:srgbClr val="122A4C"/>
                </a:solidFill>
              </a:rPr>
              <a:t>Build one nodal master case first, then derive the zonal case mechanically.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F5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3246120"/>
            <a:ext cx="128016" cy="914400"/>
          </a:xfrm>
          <a:prstGeom prst="rect">
            <a:avLst/>
          </a:prstGeom>
          <a:solidFill>
            <a:srgbClr val="2F5DA9"/>
          </a:solidFill>
          <a:ln>
            <a:solidFill>
              <a:srgbClr val="2F5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3374136"/>
            <a:ext cx="1929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B697D"/>
                </a:solidFill>
              </a:rPr>
              <a:t>Nodal Buses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630168"/>
            <a:ext cx="19293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A4C"/>
                </a:solidFill>
              </a:rPr>
              <a:t>783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324612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54680" y="3246120"/>
            <a:ext cx="128016" cy="914400"/>
          </a:xfrm>
          <a:prstGeom prst="rect">
            <a:avLst/>
          </a:prstGeom>
          <a:solidFill>
            <a:srgbClr val="E16B4A"/>
          </a:solidFill>
          <a:ln>
            <a:solidFill>
              <a:srgbClr val="E1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74136" y="3374136"/>
            <a:ext cx="1929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B697D"/>
                </a:solidFill>
              </a:rPr>
              <a:t>Nodal 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136" y="3630168"/>
            <a:ext cx="19293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A4C"/>
                </a:solidFill>
              </a:rPr>
              <a:t>1174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324612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36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577840" y="3246120"/>
            <a:ext cx="128016" cy="914400"/>
          </a:xfrm>
          <a:prstGeom prst="rect">
            <a:avLst/>
          </a:prstGeom>
          <a:solidFill>
            <a:srgbClr val="368F84"/>
          </a:solidFill>
          <a:ln>
            <a:solidFill>
              <a:srgbClr val="36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97296" y="3374136"/>
            <a:ext cx="1929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B697D"/>
                </a:solidFill>
              </a:rPr>
              <a:t>Generators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7296" y="3630168"/>
            <a:ext cx="19293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A4C"/>
                </a:solidFill>
              </a:rPr>
              <a:t>4135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324612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01000" y="3246120"/>
            <a:ext cx="128016" cy="914400"/>
          </a:xfrm>
          <a:prstGeom prst="rect">
            <a:avLst/>
          </a:prstGeom>
          <a:solidFill>
            <a:srgbClr val="DBA520"/>
          </a:solidFill>
          <a:ln>
            <a:solidFill>
              <a:srgbClr val="DB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0456" y="3374136"/>
            <a:ext cx="1929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B697D"/>
                </a:solidFill>
              </a:rPr>
              <a:t>Demo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3630168"/>
            <a:ext cx="19293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A4C"/>
                </a:solidFill>
              </a:rPr>
              <a:t>$10.00M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709160"/>
            <a:ext cx="104241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22A4C"/>
                </a:solidFill>
              </a:rPr>
              <a:t>Network backbone: OSM Europe transmission dataset + PyPSA-Eur reference workflow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22A4C"/>
                </a:solidFill>
              </a:rPr>
              <a:t>Fleet: powerplantmatching with Germany-specific validation layers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22A4C"/>
                </a:solidFill>
              </a:rPr>
              <a:t>Chronology: SMARD national load + generation and four TSO load helper files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A4C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D"/>
                </a:solidFill>
              </a:rPr>
              <a:t>How the Germany case was assembled and why the design is comparison-friendly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08760"/>
            <a:ext cx="324612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3246120" cy="146304"/>
          </a:xfrm>
          <a:prstGeom prst="rect">
            <a:avLst/>
          </a:prstGeom>
          <a:solidFill>
            <a:srgbClr val="2F5DA9"/>
          </a:solidFill>
          <a:ln>
            <a:solidFill>
              <a:srgbClr val="2F5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5DA9"/>
                </a:solidFill>
              </a:rPr>
              <a:t>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04495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122A4C"/>
                </a:solidFill>
              </a:rPr>
              <a:t>Create one canonical Germany PCM dataset that supports both nodal and zonal analysis.</a:t>
            </a:r>
            <a:endParaRPr lang="en-US" sz="2200" b="1" dirty="0">
              <a:solidFill>
                <a:srgbClr val="122A4C"/>
              </a:solidFill>
            </a:endParaRPr>
          </a:p>
          <a:p>
            <a:endParaRPr sz="2200" b="1" dirty="0">
              <a:solidFill>
                <a:srgbClr val="122A4C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89704" y="1508760"/>
            <a:ext cx="324612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9704" y="1508760"/>
            <a:ext cx="3246120" cy="146304"/>
          </a:xfrm>
          <a:prstGeom prst="rect">
            <a:avLst/>
          </a:prstGeom>
          <a:solidFill>
            <a:srgbClr val="368F84"/>
          </a:solidFill>
          <a:ln>
            <a:solidFill>
              <a:srgbClr val="36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90872" y="178308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68F84"/>
                </a:solidFill>
              </a:rPr>
              <a:t>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148840"/>
            <a:ext cx="27432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122A4C"/>
                </a:solidFill>
              </a:rPr>
              <a:t>Freeze every major mapping once: generator -&gt; bus -&gt; zone -&gt; zonal derivative.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66175" y="1508760"/>
            <a:ext cx="324612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66175" y="1508760"/>
            <a:ext cx="3246120" cy="146304"/>
          </a:xfrm>
          <a:prstGeom prst="rect">
            <a:avLst/>
          </a:prstGeom>
          <a:solidFill>
            <a:srgbClr val="E16B4A"/>
          </a:solidFill>
          <a:ln>
            <a:solidFill>
              <a:srgbClr val="E1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67344" y="178308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16B4A"/>
                </a:solidFill>
              </a:rPr>
              <a:t>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7344" y="2148840"/>
            <a:ext cx="291367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122A4C"/>
                </a:solidFill>
              </a:rPr>
              <a:t>A solved 2-day nodal demo case plus a consistent 4-zone zonal comparison case.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A4C"/>
                </a:solidFill>
              </a:rPr>
              <a:t>Source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D"/>
                </a:solidFill>
              </a:rPr>
              <a:t>Each layer was chosen to keep the zonal case derived from, not detached from, the nodal case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78408" y="1709928"/>
            <a:ext cx="1188720" cy="347472"/>
          </a:xfrm>
          <a:prstGeom prst="roundRect">
            <a:avLst/>
          </a:prstGeom>
          <a:solidFill>
            <a:srgbClr val="2F5DA9"/>
          </a:solidFill>
          <a:ln>
            <a:solidFill>
              <a:srgbClr val="2F5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5" y="2167128"/>
            <a:ext cx="4526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A4C"/>
                </a:solidFill>
              </a:rPr>
              <a:t>OSM Europe transmission dataset</a:t>
            </a:r>
          </a:p>
          <a:p>
            <a:r>
              <a:rPr sz="1800" b="1">
                <a:solidFill>
                  <a:srgbClr val="122A4C"/>
                </a:solidFill>
              </a:rPr>
              <a:t>PyPSA-Eur workflow reference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19088" y="1709928"/>
            <a:ext cx="1188720" cy="347472"/>
          </a:xfrm>
          <a:prstGeom prst="roundRect">
            <a:avLst/>
          </a:prstGeom>
          <a:solidFill>
            <a:srgbClr val="E16B4A"/>
          </a:solidFill>
          <a:ln>
            <a:solidFill>
              <a:srgbClr val="E1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Fleet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7376" y="2167128"/>
            <a:ext cx="269426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122A4C"/>
                </a:solidFill>
              </a:rPr>
              <a:t>P</a:t>
            </a:r>
            <a:r>
              <a:rPr sz="1800" b="1" dirty="0">
                <a:solidFill>
                  <a:srgbClr val="122A4C"/>
                </a:solidFill>
              </a:rPr>
              <a:t>ower</a:t>
            </a:r>
            <a:r>
              <a:rPr lang="en-US" sz="1800" b="1" dirty="0">
                <a:solidFill>
                  <a:srgbClr val="122A4C"/>
                </a:solidFill>
              </a:rPr>
              <a:t> </a:t>
            </a:r>
            <a:r>
              <a:rPr sz="1800" b="1" dirty="0">
                <a:solidFill>
                  <a:srgbClr val="122A4C"/>
                </a:solidFill>
              </a:rPr>
              <a:t>plant</a:t>
            </a:r>
            <a:r>
              <a:rPr lang="en-US" sz="1800" b="1" dirty="0">
                <a:solidFill>
                  <a:srgbClr val="122A4C"/>
                </a:solidFill>
              </a:rPr>
              <a:t> </a:t>
            </a:r>
            <a:r>
              <a:rPr sz="1800" b="1" dirty="0">
                <a:solidFill>
                  <a:srgbClr val="122A4C"/>
                </a:solidFill>
              </a:rPr>
              <a:t>matching</a:t>
            </a:r>
          </a:p>
          <a:p>
            <a:r>
              <a:rPr sz="1800" b="1" dirty="0" err="1">
                <a:solidFill>
                  <a:srgbClr val="122A4C"/>
                </a:solidFill>
              </a:rPr>
              <a:t>BNetzA</a:t>
            </a:r>
            <a:r>
              <a:rPr sz="1800" b="1" dirty="0">
                <a:solidFill>
                  <a:srgbClr val="122A4C"/>
                </a:solidFill>
              </a:rPr>
              <a:t> validation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5760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78408" y="3858768"/>
            <a:ext cx="1188720" cy="347472"/>
          </a:xfrm>
          <a:prstGeom prst="roundRect">
            <a:avLst/>
          </a:prstGeom>
          <a:solidFill>
            <a:srgbClr val="368F84"/>
          </a:solidFill>
          <a:ln>
            <a:solidFill>
              <a:srgbClr val="36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Chronology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5" y="4315968"/>
            <a:ext cx="4526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A4C"/>
                </a:solidFill>
              </a:rPr>
              <a:t>SMARD Germany load + generation</a:t>
            </a:r>
          </a:p>
          <a:p>
            <a:r>
              <a:rPr sz="1800" b="1">
                <a:solidFill>
                  <a:srgbClr val="122A4C"/>
                </a:solidFill>
              </a:rPr>
              <a:t>SMARD TSO load helper files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65760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19088" y="3858768"/>
            <a:ext cx="1188720" cy="347472"/>
          </a:xfrm>
          <a:prstGeom prst="roundRect">
            <a:avLst/>
          </a:prstGeom>
          <a:solidFill>
            <a:srgbClr val="9160C0"/>
          </a:solidFill>
          <a:ln>
            <a:solidFill>
              <a:srgbClr val="916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Map Geometry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4315968"/>
            <a:ext cx="4526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A4C"/>
                </a:solidFill>
              </a:rPr>
              <a:t>Germany state boundary GeoJSON</a:t>
            </a:r>
          </a:p>
          <a:p>
            <a:r>
              <a:rPr sz="1800" b="1">
                <a:solidFill>
                  <a:srgbClr val="122A4C"/>
                </a:solidFill>
              </a:rPr>
              <a:t>reconstructed 4-TSO overlay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A4C"/>
                </a:solidFill>
              </a:rPr>
              <a:t>Integration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D"/>
                </a:solidFill>
              </a:rPr>
              <a:t>The zonal case is produced by aggregation from the nodal master case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645920" cy="868680"/>
          </a:xfrm>
          <a:prstGeom prst="roundRect">
            <a:avLst/>
          </a:prstGeom>
          <a:solidFill>
            <a:srgbClr val="2F5DA9"/>
          </a:solidFill>
          <a:ln>
            <a:solidFill>
              <a:srgbClr val="2F5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Raw 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828800"/>
            <a:ext cx="1645920" cy="868680"/>
          </a:xfrm>
          <a:prstGeom prst="roundRect">
            <a:avLst/>
          </a:prstGeom>
          <a:solidFill>
            <a:srgbClr val="E16B4A"/>
          </a:solidFill>
          <a:ln>
            <a:solidFill>
              <a:srgbClr val="E1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Cleaned Staging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828800"/>
            <a:ext cx="1645920" cy="868680"/>
          </a:xfrm>
          <a:prstGeom prst="roundRect">
            <a:avLst/>
          </a:prstGeom>
          <a:solidFill>
            <a:srgbClr val="368F84"/>
          </a:solidFill>
          <a:ln>
            <a:solidFill>
              <a:srgbClr val="36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Frozen Maps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828800"/>
            <a:ext cx="1645920" cy="868680"/>
          </a:xfrm>
          <a:prstGeom prst="roundRect">
            <a:avLst/>
          </a:prstGeom>
          <a:solidFill>
            <a:srgbClr val="2F5DA9"/>
          </a:solidFill>
          <a:ln>
            <a:solidFill>
              <a:srgbClr val="2F5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Nodal Master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828800"/>
            <a:ext cx="1645920" cy="868680"/>
          </a:xfrm>
          <a:prstGeom prst="roundRect">
            <a:avLst/>
          </a:prstGeom>
          <a:solidFill>
            <a:srgbClr val="E16B4A"/>
          </a:solidFill>
          <a:ln>
            <a:solidFill>
              <a:srgbClr val="E1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Zonal Derivative</a:t>
            </a:r>
          </a:p>
        </p:txBody>
      </p:sp>
      <p:sp>
        <p:nvSpPr>
          <p:cNvPr id="9" name="Chevron 8"/>
          <p:cNvSpPr/>
          <p:nvPr/>
        </p:nvSpPr>
        <p:spPr>
          <a:xfrm>
            <a:off x="2423160" y="2066543"/>
            <a:ext cx="320040" cy="347472"/>
          </a:xfrm>
          <a:prstGeom prst="chevron">
            <a:avLst/>
          </a:prstGeom>
          <a:solidFill>
            <a:srgbClr val="5B697D"/>
          </a:solidFill>
          <a:ln>
            <a:solidFill>
              <a:srgbClr val="5B6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evron 9"/>
          <p:cNvSpPr/>
          <p:nvPr/>
        </p:nvSpPr>
        <p:spPr>
          <a:xfrm>
            <a:off x="4434840" y="2066543"/>
            <a:ext cx="320040" cy="347472"/>
          </a:xfrm>
          <a:prstGeom prst="chevron">
            <a:avLst/>
          </a:prstGeom>
          <a:solidFill>
            <a:srgbClr val="5B697D"/>
          </a:solidFill>
          <a:ln>
            <a:solidFill>
              <a:srgbClr val="5B6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hevron 10"/>
          <p:cNvSpPr/>
          <p:nvPr/>
        </p:nvSpPr>
        <p:spPr>
          <a:xfrm>
            <a:off x="6446520" y="2066543"/>
            <a:ext cx="320040" cy="347472"/>
          </a:xfrm>
          <a:prstGeom prst="chevron">
            <a:avLst/>
          </a:prstGeom>
          <a:solidFill>
            <a:srgbClr val="5B697D"/>
          </a:solidFill>
          <a:ln>
            <a:solidFill>
              <a:srgbClr val="5B6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hevron 11"/>
          <p:cNvSpPr/>
          <p:nvPr/>
        </p:nvSpPr>
        <p:spPr>
          <a:xfrm>
            <a:off x="8458200" y="2066543"/>
            <a:ext cx="320040" cy="347472"/>
          </a:xfrm>
          <a:prstGeom prst="chevron">
            <a:avLst/>
          </a:prstGeom>
          <a:solidFill>
            <a:srgbClr val="5B697D"/>
          </a:solidFill>
          <a:ln>
            <a:solidFill>
              <a:srgbClr val="5B6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200400"/>
            <a:ext cx="10424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22A4C"/>
                </a:solidFill>
              </a:rPr>
              <a:t>Network cleaner produces stable buses, lines, transformers, and links.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22A4C"/>
                </a:solidFill>
              </a:rPr>
              <a:t>Fleet cleaner assigns each generator to one nodal bus and inherits one zone tag.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22A4C"/>
                </a:solidFill>
              </a:rPr>
              <a:t>Chronology builder freezes one 2025 hourly basis and optional zonal load shares.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22A4C"/>
                </a:solidFill>
              </a:rPr>
              <a:t>Zonal seams and capacities are derived from the nodal cross-zone 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A4C"/>
                </a:solidFill>
              </a:rPr>
              <a:t>Build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D"/>
                </a:solidFill>
              </a:rPr>
              <a:t>Six steps turned raw public data into the Germany PCM comparison set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417320"/>
            <a:ext cx="502920" cy="502920"/>
          </a:xfrm>
          <a:prstGeom prst="ellipse">
            <a:avLst/>
          </a:prstGeom>
          <a:solidFill>
            <a:srgbClr val="122A4C"/>
          </a:solidFill>
          <a:ln>
            <a:solidFill>
              <a:srgbClr val="122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39903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5DA9"/>
                </a:solidFill>
              </a:rPr>
              <a:t>Network backbone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636776"/>
            <a:ext cx="9144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22A4C"/>
                </a:solidFill>
              </a:rPr>
              <a:t>Normalize OSM Europe inputs and keep a connected 783-bus Germany network.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267712"/>
            <a:ext cx="502920" cy="502920"/>
          </a:xfrm>
          <a:prstGeom prst="ellipse">
            <a:avLst/>
          </a:prstGeom>
          <a:solidFill>
            <a:srgbClr val="122A4C"/>
          </a:solidFill>
          <a:ln>
            <a:solidFill>
              <a:srgbClr val="122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49424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5DA9"/>
                </a:solidFill>
              </a:rPr>
              <a:t>Bus-zone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487168"/>
            <a:ext cx="9144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22A4C"/>
                </a:solidFill>
              </a:rPr>
              <a:t>Freeze one Bus_id -&gt; TSO zone table for 50Hertz, Amprion, TenneT, and TransnetBW.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118104"/>
            <a:ext cx="502920" cy="502920"/>
          </a:xfrm>
          <a:prstGeom prst="ellipse">
            <a:avLst/>
          </a:prstGeom>
          <a:solidFill>
            <a:srgbClr val="122A4C"/>
          </a:solidFill>
          <a:ln>
            <a:solidFill>
              <a:srgbClr val="122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099816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5DA9"/>
                </a:solidFill>
              </a:rPr>
              <a:t>Generator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337560"/>
            <a:ext cx="9144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22A4C"/>
                </a:solidFill>
              </a:rPr>
              <a:t>Clean powerplantmatching and assign each plant to a nodal bus once.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968496"/>
            <a:ext cx="502920" cy="502920"/>
          </a:xfrm>
          <a:prstGeom prst="ellipse">
            <a:avLst/>
          </a:prstGeom>
          <a:solidFill>
            <a:srgbClr val="122A4C"/>
          </a:solidFill>
          <a:ln>
            <a:solidFill>
              <a:srgbClr val="122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95020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5DA9"/>
                </a:solidFill>
              </a:rPr>
              <a:t>Chronology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4187952"/>
            <a:ext cx="9144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22A4C"/>
                </a:solidFill>
              </a:rPr>
              <a:t>Build one 2025 hourly chronology with 8760 rows and reuse it everywhere.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818888"/>
            <a:ext cx="502920" cy="502920"/>
          </a:xfrm>
          <a:prstGeom prst="ellipse">
            <a:avLst/>
          </a:prstGeom>
          <a:solidFill>
            <a:srgbClr val="122A4C"/>
          </a:solidFill>
          <a:ln>
            <a:solidFill>
              <a:srgbClr val="122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80060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5DA9"/>
                </a:solidFill>
              </a:rPr>
              <a:t>Case assembly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5038344"/>
            <a:ext cx="9144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22A4C"/>
                </a:solidFill>
              </a:rPr>
              <a:t>Build the canonical nodal case first and aggregate the zonal case from it.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5669279"/>
            <a:ext cx="502920" cy="502920"/>
          </a:xfrm>
          <a:prstGeom prst="ellipse">
            <a:avLst/>
          </a:prstGeom>
          <a:solidFill>
            <a:srgbClr val="122A4C"/>
          </a:solidFill>
          <a:ln>
            <a:solidFill>
              <a:srgbClr val="122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6509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5DA9"/>
                </a:solidFill>
              </a:rPr>
              <a:t>Dashboard geometry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5888736"/>
            <a:ext cx="9144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22A4C"/>
                </a:solidFill>
              </a:rPr>
              <a:t>Reconstruct a file-backed Germany TSO overlay from state boundaries and frozen bus geography.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A4C"/>
                </a:solidFill>
              </a:rPr>
              <a:t>Case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D"/>
                </a:solidFill>
              </a:rPr>
              <a:t>Current master and derivative cases in the repo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52120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7920" y="1508760"/>
            <a:ext cx="52120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5DA9"/>
                </a:solidFill>
              </a:rPr>
              <a:t>Nodal Master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755648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16B4A"/>
                </a:solidFill>
              </a:rPr>
              <a:t>Zonal Derivative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389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122A4C"/>
                </a:solidFill>
              </a:rPr>
              <a:t>783 buses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22A4C"/>
                </a:solidFill>
              </a:rPr>
              <a:t>1174 lines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22A4C"/>
                </a:solidFill>
              </a:rPr>
              <a:t>4135 generator entries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22A4C"/>
                </a:solidFill>
              </a:rPr>
              <a:t>8760-hour canonical chronology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4389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122A4C"/>
                </a:solidFill>
              </a:rPr>
              <a:t>4 zones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22A4C"/>
                </a:solidFill>
              </a:rPr>
              <a:t>5 interzonal interfaces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22A4C"/>
                </a:solidFill>
              </a:rPr>
              <a:t>46 zonal generator entries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22A4C"/>
                </a:solidFill>
              </a:rPr>
              <a:t>Derived from nodal geography and seams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480560"/>
            <a:ext cx="10012680" cy="566928"/>
          </a:xfrm>
          <a:prstGeom prst="roundRect">
            <a:avLst/>
          </a:prstGeom>
          <a:solidFill>
            <a:srgbClr val="ECF2FA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 b="1">
                <a:solidFill>
                  <a:srgbClr val="122A4C"/>
                </a:solidFill>
              </a:rPr>
              <a:t>Design choice: the zonal case is not independently calibrated; it is aggregated from the nodal master dataset.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A4C"/>
                </a:solidFill>
              </a:rPr>
              <a:t>Assumptions And 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D"/>
                </a:solidFill>
              </a:rPr>
              <a:t>Important choices to explain when comparing Germany nodal and zonal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5303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72200" y="1508760"/>
            <a:ext cx="52578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73736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68F84"/>
                </a:solidFill>
              </a:rPr>
              <a:t>Frozen Modeling Choices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2512" y="173736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16B4A"/>
                </a:solidFill>
              </a:rPr>
              <a:t>Current Caveats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22A4C"/>
                </a:solidFill>
              </a:rPr>
              <a:t>Use one nodal master case as the canonical truth source.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22A4C"/>
                </a:solidFill>
              </a:rPr>
              <a:t>Use four TSO research zones instead of the real DE-LU bidding zone.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22A4C"/>
                </a:solidFill>
              </a:rPr>
              <a:t>Keep representative-day modes off for PCM debug validation windows.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22A4C"/>
                </a:solidFill>
              </a:rPr>
              <a:t>Preserve chronology consistency before adding more model complexity.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22A4C"/>
                </a:solidFill>
              </a:rPr>
              <a:t>The Germany TSO dashboard overlay is reconstructed, not official GIS.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22A4C"/>
                </a:solidFill>
              </a:rPr>
              <a:t>The 2-day nodal demo case is solve-proven; longer nodal horizons still need staged validation.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22A4C"/>
                </a:solidFill>
              </a:rPr>
              <a:t>Generator validation against MaStR and Kraftwerksliste can still be deepened.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22A4C"/>
                </a:solidFill>
              </a:rPr>
              <a:t>Historical benchmarking should keep expanding as the case matures.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A4C"/>
                </a:solidFill>
              </a:rPr>
              <a:t>Debugging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D"/>
                </a:solidFill>
              </a:rPr>
              <a:t>The nodal case became usable after fixing topology and electrical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32461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3246120" cy="146304"/>
          </a:xfrm>
          <a:prstGeom prst="rect">
            <a:avLst/>
          </a:prstGeom>
          <a:solidFill>
            <a:srgbClr val="E16B4A"/>
          </a:solidFill>
          <a:ln>
            <a:solidFill>
              <a:srgbClr val="E1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084831"/>
            <a:ext cx="2560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16B4A"/>
                </a:solidFill>
              </a:rPr>
              <a:t>Initial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68880"/>
            <a:ext cx="2746361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dirty="0">
                <a:solidFill>
                  <a:srgbClr val="122A4C"/>
                </a:solidFill>
              </a:rPr>
              <a:t>Disconnected components, singular-network behavior, and severe angle-limit pathologies.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32461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3246120" cy="146304"/>
          </a:xfrm>
          <a:prstGeom prst="rect">
            <a:avLst/>
          </a:prstGeom>
          <a:solidFill>
            <a:srgbClr val="368F84"/>
          </a:solidFill>
          <a:ln>
            <a:solidFill>
              <a:srgbClr val="36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73168" y="2084831"/>
            <a:ext cx="2560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68F84"/>
                </a:solidFill>
              </a:rPr>
              <a:t>Core fixes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2468880"/>
            <a:ext cx="2321899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dirty="0">
                <a:solidFill>
                  <a:srgbClr val="122A4C"/>
                </a:solidFill>
              </a:rPr>
              <a:t>Transformer connectivity, largest connected component, and HOPE-scale reactance normalization.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28800"/>
            <a:ext cx="32461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21040" y="1828800"/>
            <a:ext cx="3246120" cy="146304"/>
          </a:xfrm>
          <a:prstGeom prst="rect">
            <a:avLst/>
          </a:prstGeom>
          <a:solidFill>
            <a:srgbClr val="2F5DA9"/>
          </a:solidFill>
          <a:ln>
            <a:solidFill>
              <a:srgbClr val="2F5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22208" y="2084831"/>
            <a:ext cx="2560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F5DA9"/>
                </a:solidFill>
              </a:rPr>
              <a:t>Usable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2468880"/>
            <a:ext cx="264566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dirty="0">
                <a:solidFill>
                  <a:srgbClr val="122A4C"/>
                </a:solidFill>
              </a:rPr>
              <a:t>A 1-day and then 2-day full-nodal Germany debug run solved cleanly with zero load shedding.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A4C"/>
                </a:solidFill>
              </a:rPr>
              <a:t>Solved Demo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D"/>
                </a:solidFill>
              </a:rPr>
              <a:t>2-day January nodal case used for the current Germany dashboard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F5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128016" cy="914400"/>
          </a:xfrm>
          <a:prstGeom prst="rect">
            <a:avLst/>
          </a:prstGeom>
          <a:solidFill>
            <a:srgbClr val="2F5DA9"/>
          </a:solidFill>
          <a:ln>
            <a:solidFill>
              <a:srgbClr val="2F5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6695" y="1545336"/>
            <a:ext cx="202082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B697D"/>
                </a:solidFill>
              </a:rPr>
              <a:t>Solve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" y="1801368"/>
            <a:ext cx="202082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A4C"/>
                </a:solidFill>
              </a:rPr>
              <a:t>48 hours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41732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37560" y="1417320"/>
            <a:ext cx="128016" cy="914400"/>
          </a:xfrm>
          <a:prstGeom prst="rect">
            <a:avLst/>
          </a:prstGeom>
          <a:solidFill>
            <a:srgbClr val="DBA520"/>
          </a:solidFill>
          <a:ln>
            <a:solidFill>
              <a:srgbClr val="DB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57015" y="1545336"/>
            <a:ext cx="202082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B697D"/>
                </a:solidFill>
              </a:rPr>
              <a:t>Total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015" y="1801368"/>
            <a:ext cx="202082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A4C"/>
                </a:solidFill>
              </a:rPr>
              <a:t>$10.00M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41732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36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97880" y="1417320"/>
            <a:ext cx="128016" cy="914400"/>
          </a:xfrm>
          <a:prstGeom prst="rect">
            <a:avLst/>
          </a:prstGeom>
          <a:solidFill>
            <a:srgbClr val="368F84"/>
          </a:solidFill>
          <a:ln>
            <a:solidFill>
              <a:srgbClr val="36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17336" y="1545336"/>
            <a:ext cx="202082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B697D"/>
                </a:solidFill>
              </a:rPr>
              <a:t>Load Shedding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7336" y="1801368"/>
            <a:ext cx="202082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A4C"/>
                </a:solidFill>
              </a:rPr>
              <a:t>0.0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141732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58200" y="1417320"/>
            <a:ext cx="128016" cy="914400"/>
          </a:xfrm>
          <a:prstGeom prst="rect">
            <a:avLst/>
          </a:prstGeom>
          <a:solidFill>
            <a:srgbClr val="E16B4A"/>
          </a:solidFill>
          <a:ln>
            <a:solidFill>
              <a:srgbClr val="E1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77656" y="1545336"/>
            <a:ext cx="202082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B697D"/>
                </a:solidFill>
              </a:rPr>
              <a:t>Dashboard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77656" y="1801368"/>
            <a:ext cx="202082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A4C"/>
                </a:solidFill>
              </a:rPr>
              <a:t>Default case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868680" y="2743200"/>
          <a:ext cx="6400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7635240" y="2743200"/>
            <a:ext cx="3383280" cy="2743200"/>
          </a:xfrm>
          <a:prstGeom prst="roundRect">
            <a:avLst/>
          </a:prstGeom>
          <a:solidFill>
            <a:srgbClr val="ECF2FA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F5DA9"/>
                </a:solidFill>
              </a:rPr>
              <a:t>Why this matters</a:t>
            </a:r>
          </a:p>
          <a:p>
            <a:r>
              <a:rPr sz="1800" b="0">
                <a:solidFill>
                  <a:srgbClr val="122A4C"/>
                </a:solidFill>
              </a:rPr>
              <a:t>The solved 2-day nodal case is stable enough to demo the Germany dashboard while the longer nodal horizon is still being staged.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A4C"/>
                </a:solidFill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D"/>
                </a:solidFill>
              </a:rPr>
              <a:t>What to improve next in the Germany case 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164592" cy="1645920"/>
          </a:xfrm>
          <a:prstGeom prst="rect">
            <a:avLst/>
          </a:prstGeom>
          <a:solidFill>
            <a:srgbClr val="2F5DA9"/>
          </a:solidFill>
          <a:ln>
            <a:solidFill>
              <a:srgbClr val="2F5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755648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F5DA9"/>
                </a:solidFill>
              </a:rPr>
              <a:t>Data 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84831"/>
            <a:ext cx="4389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22A4C"/>
                </a:solidFill>
              </a:rPr>
              <a:t>Deepen plant validation and benchmark chronology totals against SMARD.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164592" cy="1645920"/>
          </a:xfrm>
          <a:prstGeom prst="rect">
            <a:avLst/>
          </a:prstGeom>
          <a:solidFill>
            <a:srgbClr val="E16B4A"/>
          </a:solidFill>
          <a:ln>
            <a:solidFill>
              <a:srgbClr val="E1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755648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16B4A"/>
                </a:solidFill>
              </a:rPr>
              <a:t>Nodal Scale-Up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84831"/>
            <a:ext cx="4389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22A4C"/>
                </a:solidFill>
              </a:rPr>
              <a:t>Extend from short-window nodal success toward longer production horizons.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03320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3703320"/>
            <a:ext cx="164592" cy="1645920"/>
          </a:xfrm>
          <a:prstGeom prst="rect">
            <a:avLst/>
          </a:prstGeom>
          <a:solidFill>
            <a:srgbClr val="368F84"/>
          </a:solidFill>
          <a:ln>
            <a:solidFill>
              <a:srgbClr val="36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904487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68F84"/>
                </a:solidFill>
              </a:rPr>
              <a:t>Geometry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33672"/>
            <a:ext cx="4389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22A4C"/>
                </a:solidFill>
              </a:rPr>
              <a:t>Swap the reconstructed TSO overlay for official GIS if a public layer appears.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03320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703320"/>
            <a:ext cx="164592" cy="1645920"/>
          </a:xfrm>
          <a:prstGeom prst="rect">
            <a:avLst/>
          </a:prstGeom>
          <a:solidFill>
            <a:srgbClr val="9160C0"/>
          </a:solidFill>
          <a:ln>
            <a:solidFill>
              <a:srgbClr val="916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3904487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9160C0"/>
                </a:solidFill>
              </a:rPr>
              <a:t>Storytelling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33672"/>
            <a:ext cx="4389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22A4C"/>
                </a:solidFill>
              </a:rPr>
              <a:t>Compare nodal and zonal outputs directly in the dashboard and in papers.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A4C"/>
                </a:solidFill>
              </a:rPr>
              <a:t>Key Files In The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D"/>
                </a:solidFill>
              </a:rPr>
              <a:t>Useful paths for updating the Germany build and the dashboard story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54480"/>
            <a:ext cx="10652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" y="171907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5DA9"/>
                </a:solidFill>
              </a:rPr>
              <a:t>Build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700784"/>
            <a:ext cx="8138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22A4C"/>
                </a:solidFill>
              </a:rPr>
              <a:t>E:/MIT Dropbox/Shen Wang/MIT/RA/HOPE_project/tools/germany_pcm_case_related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87168"/>
            <a:ext cx="10652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651760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5DA9"/>
                </a:solidFill>
              </a:rPr>
              <a:t>Dashboard geometry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633472"/>
            <a:ext cx="8138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22A4C"/>
                </a:solidFill>
              </a:rPr>
              <a:t>E:/MIT Dropbox/Shen Wang/MIT/RA/HOPE_project/tools/hope_dashboard/data/germany_tso_zones.geojson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19856"/>
            <a:ext cx="10652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3584448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5DA9"/>
                </a:solidFill>
              </a:rPr>
              <a:t>Nodal master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566160"/>
            <a:ext cx="8138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22A4C"/>
                </a:solidFill>
              </a:rPr>
              <a:t>E:/MIT Dropbox/Shen Wang/MIT/RA/HOPE_project/ModelCases/GERMANY_PCM_nodal_case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352544"/>
            <a:ext cx="10652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" y="4517136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5DA9"/>
                </a:solidFill>
              </a:rPr>
              <a:t>Zonal derivative 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498848"/>
            <a:ext cx="8138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22A4C"/>
                </a:solidFill>
              </a:rPr>
              <a:t>E:/MIT Dropbox/Shen Wang/MIT/RA/HOPE_project/ModelCases/GERMANY_PCM_zonal4_case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A4C"/>
                </a:solidFill>
              </a:rPr>
              <a:t>Raw Input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D"/>
                </a:solidFill>
              </a:rPr>
              <a:t>What went into the Germany build before cleaning and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417320"/>
            <a:ext cx="2487168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F5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1417320"/>
            <a:ext cx="128016" cy="914400"/>
          </a:xfrm>
          <a:prstGeom prst="rect">
            <a:avLst/>
          </a:prstGeom>
          <a:solidFill>
            <a:srgbClr val="2F5DA9"/>
          </a:solidFill>
          <a:ln>
            <a:solidFill>
              <a:srgbClr val="2F5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545336"/>
            <a:ext cx="21762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B697D"/>
                </a:solidFill>
              </a:rPr>
              <a:t>Raw buses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801368"/>
            <a:ext cx="217627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22A4C"/>
                </a:solidFill>
              </a:rPr>
              <a:t>12,936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7" y="1417320"/>
            <a:ext cx="2487168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38727" y="1417320"/>
            <a:ext cx="128016" cy="914400"/>
          </a:xfrm>
          <a:prstGeom prst="rect">
            <a:avLst/>
          </a:prstGeom>
          <a:solidFill>
            <a:srgbClr val="E16B4A"/>
          </a:solidFill>
          <a:ln>
            <a:solidFill>
              <a:srgbClr val="E1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58183" y="1545336"/>
            <a:ext cx="21762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B697D"/>
                </a:solidFill>
              </a:rPr>
              <a:t>Raw 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58183" y="1801368"/>
            <a:ext cx="217627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22A4C"/>
                </a:solidFill>
              </a:rPr>
              <a:t>16,050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1417320"/>
            <a:ext cx="2487168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36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27648" y="1417320"/>
            <a:ext cx="128016" cy="914400"/>
          </a:xfrm>
          <a:prstGeom prst="rect">
            <a:avLst/>
          </a:prstGeom>
          <a:solidFill>
            <a:srgbClr val="368F84"/>
          </a:solidFill>
          <a:ln>
            <a:solidFill>
              <a:srgbClr val="36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1545336"/>
            <a:ext cx="21762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B697D"/>
                </a:solidFill>
              </a:rPr>
              <a:t>Raw transformers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01368"/>
            <a:ext cx="217627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22A4C"/>
                </a:solidFill>
              </a:rPr>
              <a:t>1,949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16567" y="1417320"/>
            <a:ext cx="2487168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16567" y="1417320"/>
            <a:ext cx="128016" cy="914400"/>
          </a:xfrm>
          <a:prstGeom prst="rect">
            <a:avLst/>
          </a:prstGeom>
          <a:solidFill>
            <a:srgbClr val="DBA520"/>
          </a:solidFill>
          <a:ln>
            <a:solidFill>
              <a:srgbClr val="DB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36024" y="1545336"/>
            <a:ext cx="21762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B697D"/>
                </a:solidFill>
              </a:rPr>
              <a:t>Raw fleet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6024" y="1801368"/>
            <a:ext cx="217627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22A4C"/>
                </a:solidFill>
              </a:rPr>
              <a:t>165,064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2743200"/>
            <a:ext cx="53949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F5DA9"/>
                </a:solidFill>
              </a:rPr>
              <a:t>Cleaned staging outputs</a:t>
            </a:r>
          </a:p>
          <a:p>
            <a:r>
              <a:rPr sz="1600" b="0">
                <a:solidFill>
                  <a:srgbClr val="122A4C"/>
                </a:solidFill>
              </a:rPr>
              <a:t>791 cleaned network buses and 1,019 cleaned lines</a:t>
            </a:r>
          </a:p>
          <a:p>
            <a:r>
              <a:rPr sz="1600" b="0">
                <a:solidFill>
                  <a:srgbClr val="122A4C"/>
                </a:solidFill>
              </a:rPr>
              <a:t>155 cleaned transformers and 791 bus-zone assignments</a:t>
            </a:r>
          </a:p>
          <a:p>
            <a:r>
              <a:rPr sz="1600" b="0">
                <a:solidFill>
                  <a:srgbClr val="122A4C"/>
                </a:solidFill>
              </a:rPr>
              <a:t>141,420 cleaned generator rows and 8,760 canonical hourly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74320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22A4C"/>
                </a:solidFill>
              </a:rPr>
              <a:t>SMARD generation file: 8,766 raw rows before trimming to the canonical 8,760-hour basis.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22A4C"/>
                </a:solidFill>
              </a:rPr>
              <a:t>Each SMARD TSO load helper file: 8,766 raw rows before chronology normalization.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22A4C"/>
                </a:solidFill>
              </a:rPr>
              <a:t>The raw-to-clean reduction is intentional: the HOPE case keeps only Germany-relevant, schema-consistent, and solve-ready records.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A4C"/>
                </a:solidFill>
              </a:rPr>
              <a:t>Processing To The Current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D"/>
                </a:solidFill>
              </a:rPr>
              <a:t>How the raw files become the current Germany nodal and zonal HOPE cases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417320"/>
            <a:ext cx="457200" cy="457200"/>
          </a:xfrm>
          <a:prstGeom prst="ellipse">
            <a:avLst/>
          </a:prstGeom>
          <a:solidFill>
            <a:srgbClr val="122A4C"/>
          </a:solidFill>
          <a:ln>
            <a:solidFill>
              <a:srgbClr val="122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399032"/>
            <a:ext cx="2926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5DA9"/>
                </a:solidFill>
              </a:rPr>
              <a:t>Ingest raw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7904" y="1618488"/>
            <a:ext cx="9235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22A4C"/>
                </a:solidFill>
              </a:rPr>
              <a:t>OSM network tables, powerplantmatching fleet, SMARD chronology, and reference geometry.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203704"/>
            <a:ext cx="457200" cy="457200"/>
          </a:xfrm>
          <a:prstGeom prst="ellipse">
            <a:avLst/>
          </a:prstGeom>
          <a:solidFill>
            <a:srgbClr val="122A4C"/>
          </a:solidFill>
          <a:ln>
            <a:solidFill>
              <a:srgbClr val="122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85416"/>
            <a:ext cx="2926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5DA9"/>
                </a:solidFill>
              </a:rPr>
              <a:t>Normalize schemas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2404872"/>
            <a:ext cx="9235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22A4C"/>
                </a:solidFill>
              </a:rPr>
              <a:t>Rename columns, coerce coordinates, standardize technology and status fields, and filter to Germany.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990088"/>
            <a:ext cx="457200" cy="457200"/>
          </a:xfrm>
          <a:prstGeom prst="ellipse">
            <a:avLst/>
          </a:prstGeom>
          <a:solidFill>
            <a:srgbClr val="122A4C"/>
          </a:solidFill>
          <a:ln>
            <a:solidFill>
              <a:srgbClr val="122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971800"/>
            <a:ext cx="2926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5DA9"/>
                </a:solidFill>
              </a:rPr>
              <a:t>Repair the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3191256"/>
            <a:ext cx="9235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22A4C"/>
                </a:solidFill>
              </a:rPr>
              <a:t>Keep transformer connectivity, remove disconnected leftovers, and rescale branch reactance for HOPE.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776472"/>
            <a:ext cx="457200" cy="457200"/>
          </a:xfrm>
          <a:prstGeom prst="ellipse">
            <a:avLst/>
          </a:prstGeom>
          <a:solidFill>
            <a:srgbClr val="122A4C"/>
          </a:solidFill>
          <a:ln>
            <a:solidFill>
              <a:srgbClr val="122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58184"/>
            <a:ext cx="2926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5DA9"/>
                </a:solidFill>
              </a:rPr>
              <a:t>Freeze spatial maps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3977639"/>
            <a:ext cx="9235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22A4C"/>
                </a:solidFill>
              </a:rPr>
              <a:t>Create one Bus_id -&gt; Zone_id table and one generator -&gt; bus mapping table.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562856"/>
            <a:ext cx="457200" cy="457200"/>
          </a:xfrm>
          <a:prstGeom prst="ellipse">
            <a:avLst/>
          </a:prstGeom>
          <a:solidFill>
            <a:srgbClr val="122A4C"/>
          </a:solidFill>
          <a:ln>
            <a:solidFill>
              <a:srgbClr val="122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544568"/>
            <a:ext cx="2926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5DA9"/>
                </a:solidFill>
              </a:rPr>
              <a:t>Build chronology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7904" y="4764024"/>
            <a:ext cx="9235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22A4C"/>
                </a:solidFill>
              </a:rPr>
              <a:t>Normalize Germany hourly load and generation, then create zonal helper load shares.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5349240"/>
            <a:ext cx="457200" cy="457200"/>
          </a:xfrm>
          <a:prstGeom prst="ellipse">
            <a:avLst/>
          </a:prstGeom>
          <a:solidFill>
            <a:srgbClr val="122A4C"/>
          </a:solidFill>
          <a:ln>
            <a:solidFill>
              <a:srgbClr val="122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330952"/>
            <a:ext cx="2926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5DA9"/>
                </a:solidFill>
              </a:rPr>
              <a:t>Assemble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5550408"/>
            <a:ext cx="9235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22A4C"/>
                </a:solidFill>
              </a:rPr>
              <a:t>Build the nodal master case first, then derive the 4-zone case and the dashboard geometry from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A4C"/>
                </a:solidFill>
              </a:rPr>
              <a:t>Open-Source Case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D"/>
                </a:solidFill>
              </a:rPr>
              <a:t>Where this Germany HOPE case sits relative to other open-source electricity-model case frameworks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Case / framework</a:t>
                      </a:r>
                    </a:p>
                  </a:txBody>
                  <a:tcPr>
                    <a:solidFill>
                      <a:srgbClr val="12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Primary focus</a:t>
                      </a:r>
                    </a:p>
                  </a:txBody>
                  <a:tcPr>
                    <a:solidFill>
                      <a:srgbClr val="12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Geographic style</a:t>
                      </a:r>
                    </a:p>
                  </a:txBody>
                  <a:tcPr>
                    <a:solidFill>
                      <a:srgbClr val="12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Why it matters here</a:t>
                      </a:r>
                    </a:p>
                  </a:txBody>
                  <a:tcPr>
                    <a:solidFill>
                      <a:srgbClr val="122A4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2A4C"/>
                          </a:solidFill>
                        </a:rPr>
                        <a:t>This HOPE Germany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2A4C"/>
                          </a:solidFill>
                        </a:rPr>
                        <a:t>Consistent nodal-vs-zonal PCM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2A4C"/>
                          </a:solidFill>
                        </a:rPr>
                        <a:t>Germany nodal master plus derived 4-zone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2A4C"/>
                          </a:solidFill>
                        </a:rPr>
                        <a:t>Built specifically to compare dispatch, congestion, and price outcomes under matched assumptions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2A4C"/>
                          </a:solidFill>
                        </a:rPr>
                        <a:t>PyPSA-Eur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2A4C"/>
                          </a:solidFill>
                        </a:rPr>
                        <a:t>Reproducible Europe-wide workflow and scenario engine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2A4C"/>
                          </a:solidFill>
                        </a:rPr>
                        <a:t>Europe-wide network with flexible clustering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2A4C"/>
                          </a:solidFill>
                        </a:rPr>
                        <a:t>Best backbone reference for open data retrieval and preprocessing structure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2A4C"/>
                          </a:solidFill>
                        </a:rPr>
                        <a:t>eTraGo / open_eGo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2A4C"/>
                          </a:solidFill>
                        </a:rPr>
                        <a:t>High-resolution Germany-centered planning and sector coupling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2A4C"/>
                          </a:solidFill>
                        </a:rPr>
                        <a:t>Germany detailed, foreign system aggregated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2A4C"/>
                          </a:solidFill>
                        </a:rPr>
                        <a:t>Strong Germany data model and nodal optimization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2A4C"/>
                          </a:solidFill>
                        </a:rPr>
                        <a:t>POMATO DE example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2A4C"/>
                          </a:solidFill>
                        </a:rPr>
                        <a:t>Market design, FBMC, redispatch, and zonal analysis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2A4C"/>
                          </a:solidFill>
                        </a:rPr>
                        <a:t>Germany / European market-study orientation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2A4C"/>
                          </a:solidFill>
                        </a:rPr>
                        <a:t>Strong reference for zonal market-coupling and redispatch analysis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A4C"/>
                </a:solidFill>
              </a:rPr>
              <a:t>Comparison: Pros And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D"/>
                </a:solidFill>
              </a:rPr>
              <a:t>Why we still built a custom HOPE Germany case instead of using one of the open models directly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54480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5074920" cy="146304"/>
          </a:xfrm>
          <a:prstGeom prst="rect">
            <a:avLst/>
          </a:prstGeom>
          <a:solidFill>
            <a:srgbClr val="2F5DA9"/>
          </a:solidFill>
          <a:ln>
            <a:solidFill>
              <a:srgbClr val="2F5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755648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F5DA9"/>
                </a:solidFill>
              </a:rPr>
              <a:t>HOPE Germany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" y="2084831"/>
            <a:ext cx="4526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5DA9"/>
                </a:solidFill>
              </a:rPr>
              <a:t>Pros</a:t>
            </a:r>
          </a:p>
          <a:p>
            <a:r>
              <a:rPr sz="1400" b="0">
                <a:solidFill>
                  <a:srgbClr val="122A4C"/>
                </a:solidFill>
              </a:rPr>
              <a:t>Direct nodal-vs-zonal comparability</a:t>
            </a:r>
          </a:p>
          <a:p>
            <a:r>
              <a:rPr sz="1400" b="0">
                <a:solidFill>
                  <a:srgbClr val="122A4C"/>
                </a:solidFill>
              </a:rPr>
              <a:t>Same chronology and asset assumptions in both cases</a:t>
            </a:r>
          </a:p>
          <a:p>
            <a:r>
              <a:rPr sz="1300" b="1">
                <a:solidFill>
                  <a:srgbClr val="2F5DA9"/>
                </a:solidFill>
              </a:rPr>
              <a:t>Trade-offs</a:t>
            </a:r>
          </a:p>
          <a:p>
            <a:r>
              <a:rPr sz="1400" b="0">
                <a:solidFill>
                  <a:srgbClr val="122A4C"/>
                </a:solidFill>
              </a:rPr>
              <a:t>Short nodal solve horizon is solved and demo-ready, but longer horizons still need staging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074920" cy="146304"/>
          </a:xfrm>
          <a:prstGeom prst="rect">
            <a:avLst/>
          </a:prstGeom>
          <a:solidFill>
            <a:srgbClr val="E16B4A"/>
          </a:solidFill>
          <a:ln>
            <a:solidFill>
              <a:srgbClr val="E1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755648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16B4A"/>
                </a:solidFill>
              </a:rPr>
              <a:t>PyPSA-Eur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2084831"/>
            <a:ext cx="4526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16B4A"/>
                </a:solidFill>
              </a:rPr>
              <a:t>Pros</a:t>
            </a:r>
          </a:p>
          <a:p>
            <a:r>
              <a:rPr sz="1400" b="0">
                <a:solidFill>
                  <a:srgbClr val="122A4C"/>
                </a:solidFill>
              </a:rPr>
              <a:t>Excellent open workflow, clustering, and data-pipeline reference</a:t>
            </a:r>
          </a:p>
          <a:p>
            <a:r>
              <a:rPr sz="1300" b="1">
                <a:solidFill>
                  <a:srgbClr val="E16B4A"/>
                </a:solidFill>
              </a:rPr>
              <a:t>Trade-offs</a:t>
            </a:r>
          </a:p>
          <a:p>
            <a:r>
              <a:rPr sz="1400" b="0">
                <a:solidFill>
                  <a:srgbClr val="122A4C"/>
                </a:solidFill>
              </a:rPr>
              <a:t>Not a drop-in HOPE PCM case and not tailored to Germany 4-TSO nodal-vs-zonal comparison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03320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03320"/>
            <a:ext cx="5074920" cy="146304"/>
          </a:xfrm>
          <a:prstGeom prst="rect">
            <a:avLst/>
          </a:prstGeom>
          <a:solidFill>
            <a:srgbClr val="368F84"/>
          </a:solidFill>
          <a:ln>
            <a:solidFill>
              <a:srgbClr val="36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3904487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68F84"/>
                </a:solidFill>
              </a:rPr>
              <a:t>eTraGo / open_eGo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5" y="4233672"/>
            <a:ext cx="4526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68F84"/>
                </a:solidFill>
              </a:rPr>
              <a:t>Pros</a:t>
            </a:r>
          </a:p>
          <a:p>
            <a:r>
              <a:rPr sz="1400" b="0">
                <a:solidFill>
                  <a:srgbClr val="122A4C"/>
                </a:solidFill>
              </a:rPr>
              <a:t>Rich Germany-specific data model and strong nodal / planning context</a:t>
            </a:r>
          </a:p>
          <a:p>
            <a:r>
              <a:rPr sz="1300" b="1">
                <a:solidFill>
                  <a:srgbClr val="368F84"/>
                </a:solidFill>
              </a:rPr>
              <a:t>Trade-offs</a:t>
            </a:r>
          </a:p>
          <a:p>
            <a:r>
              <a:rPr sz="1400" b="0">
                <a:solidFill>
                  <a:srgbClr val="122A4C"/>
                </a:solidFill>
              </a:rPr>
              <a:t>Heavier stack, database dependence, and broader scope than the focused HOPE comparison case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03320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703320"/>
            <a:ext cx="5074920" cy="146304"/>
          </a:xfrm>
          <a:prstGeom prst="rect">
            <a:avLst/>
          </a:prstGeom>
          <a:solidFill>
            <a:srgbClr val="9160C0"/>
          </a:solidFill>
          <a:ln>
            <a:solidFill>
              <a:srgbClr val="916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904487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9160C0"/>
                </a:solidFill>
              </a:rPr>
              <a:t>POMATO DE 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233672"/>
            <a:ext cx="4526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9160C0"/>
                </a:solidFill>
              </a:rPr>
              <a:t>Pros</a:t>
            </a:r>
          </a:p>
          <a:p>
            <a:r>
              <a:rPr sz="1400" b="0">
                <a:solidFill>
                  <a:srgbClr val="122A4C"/>
                </a:solidFill>
              </a:rPr>
              <a:t>Strong market-coupling, FBMC, and redispatch framing</a:t>
            </a:r>
          </a:p>
          <a:p>
            <a:r>
              <a:rPr sz="1300" b="1">
                <a:solidFill>
                  <a:srgbClr val="9160C0"/>
                </a:solidFill>
              </a:rPr>
              <a:t>Trade-offs</a:t>
            </a:r>
          </a:p>
          <a:p>
            <a:r>
              <a:rPr sz="1400" b="0">
                <a:solidFill>
                  <a:srgbClr val="122A4C"/>
                </a:solidFill>
              </a:rPr>
              <a:t>Different modeling stack and case objective than our HOPE PCM comparison build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869</Words>
  <Application>Microsoft Office PowerPoint</Application>
  <PresentationFormat>Widescreen</PresentationFormat>
  <Paragraphs>134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Shen Wang</cp:lastModifiedBy>
  <cp:revision>3</cp:revision>
  <dcterms:created xsi:type="dcterms:W3CDTF">2013-01-27T09:14:16Z</dcterms:created>
  <dcterms:modified xsi:type="dcterms:W3CDTF">2026-03-22T21:12:11Z</dcterms:modified>
  <cp:category/>
</cp:coreProperties>
</file>